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0" r:id="rId22"/>
    <p:sldId id="276" r:id="rId23"/>
    <p:sldId id="279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DD0E1"/>
                </a:solidFill>
                <a:latin typeface="Aptos"/>
              </a:rPr>
              <a:t>AVR EMBEDDED SYSTEMS</a:t>
            </a:r>
            <a:endParaRPr sz="12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F2F6FC"/>
                </a:solidFill>
                <a:latin typeface="Aptos"/>
              </a:rPr>
              <a:t>REAL-TIME</a:t>
            </a:r>
            <a:br>
              <a:rPr sz="3800" b="1">
                <a:solidFill>
                  <a:srgbClr val="F2F6FC"/>
                </a:solidFill>
                <a:latin typeface="Aptos"/>
              </a:rPr>
            </a:br>
            <a:r>
              <a:rPr sz="3800" b="1">
                <a:solidFill>
                  <a:srgbClr val="F2F6FC"/>
                </a:solidFill>
                <a:latin typeface="Aptos"/>
              </a:rPr>
              <a:t>CLOCK &amp; TIMING UNIT</a:t>
            </a:r>
            <a:endParaRPr sz="3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2971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A9B8CC"/>
                </a:solidFill>
                <a:latin typeface="Aptos"/>
              </a:rPr>
              <a:t>A compact embedded platform for clock, calendar, alarms and timing control.</a:t>
            </a:r>
            <a:endParaRPr sz="170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38160" y="3108959"/>
            <a:ext cx="2651760" cy="2651760"/>
          </a:xfrm>
          <a:prstGeom prst="ellipse">
            <a:avLst/>
          </a:prstGeom>
          <a:solidFill>
            <a:srgbClr val="141E31"/>
          </a:solidFill>
          <a:ln w="254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4206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2F6FC"/>
                </a:solidFill>
                <a:latin typeface="Aptos"/>
              </a:rPr>
              <a:t>14 : 12 : 12</a:t>
            </a:r>
            <a:endParaRPr sz="1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4754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4DD0E1"/>
                </a:solidFill>
                <a:latin typeface="Aptos"/>
              </a:rPr>
              <a:t>RTC  •  AVR</a:t>
            </a:r>
            <a:endParaRPr sz="9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58978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9B8CC"/>
                </a:solidFill>
                <a:latin typeface="Aptos"/>
              </a:rPr>
              <a:t>Graduation Project  |  ATmega32  |  I2C / TWI</a:t>
            </a:r>
            <a:endParaRPr sz="1100" b="0">
              <a:solidFill>
                <a:srgbClr val="A9B8C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7439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0</a:t>
            </a:r>
            <a:r>
              <a:rPr lang="en-US" sz="1000" b="1">
                <a:solidFill>
                  <a:srgbClr val="4DD0E1"/>
                </a:solidFill>
                <a:latin typeface="Aptos"/>
              </a:rPr>
              <a:t>1</a:t>
            </a:r>
            <a:r>
              <a:rPr sz="1000" b="1">
                <a:solidFill>
                  <a:srgbClr val="4DD0E1"/>
                </a:solidFill>
                <a:latin typeface="Aptos"/>
              </a:rPr>
              <a:t>  •  TEAM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Project Team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9B8CC"/>
                </a:solidFill>
                <a:latin typeface="Aptos"/>
              </a:rPr>
              <a:t>Prepared and developed as an AVR embedded-systems graduation project.</a:t>
            </a:r>
            <a:endParaRPr sz="140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10332720" cy="777240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>
              <a:solidFill>
                <a:srgbClr val="A9B8CC"/>
              </a:solidFill>
              <a:latin typeface="Aptos"/>
              <a:sym typeface="+mn-ea"/>
            </a:endParaRPr>
          </a:p>
          <a:p>
            <a:pPr algn="l"/>
            <a:r>
              <a:rPr>
                <a:solidFill>
                  <a:srgbClr val="A9B8CC"/>
                </a:solidFill>
                <a:latin typeface="Aptos"/>
                <a:sym typeface="+mn-ea"/>
              </a:rPr>
              <a:t>Adel Wael Adel</a:t>
            </a:r>
            <a:endParaRPr>
              <a:solidFill>
                <a:srgbClr val="A9B8CC"/>
              </a:solidFill>
              <a:latin typeface="Aptos"/>
              <a:sym typeface="+mn-ea"/>
            </a:endParaRPr>
          </a:p>
          <a:p>
            <a:pPr algn="l"/>
          </a:p>
        </p:txBody>
      </p:sp>
      <p:sp>
        <p:nvSpPr>
          <p:cNvPr id="9" name="Rounded Rectangle 8"/>
          <p:cNvSpPr/>
          <p:nvPr/>
        </p:nvSpPr>
        <p:spPr>
          <a:xfrm>
            <a:off x="822960" y="3291840"/>
            <a:ext cx="10332720" cy="777240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>
                <a:solidFill>
                  <a:srgbClr val="A9B8CC"/>
                </a:solidFill>
                <a:latin typeface="Aptos"/>
                <a:sym typeface="+mn-ea"/>
              </a:rPr>
              <a:t>Yousef Mahmoud Elsayed</a:t>
            </a:r>
            <a:endParaRPr>
              <a:solidFill>
                <a:srgbClr val="A9B8CC"/>
              </a:solidFill>
              <a:latin typeface="Aptos"/>
              <a:sym typeface="+mn-e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4343400"/>
            <a:ext cx="10332720" cy="777240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>
                <a:solidFill>
                  <a:srgbClr val="A9B8CC"/>
                </a:solidFill>
                <a:latin typeface="Aptos"/>
                <a:sym typeface="+mn-ea"/>
              </a:rPr>
              <a:t>Abdullah Mohammed Abdullah</a:t>
            </a:r>
            <a:endParaRPr>
              <a:solidFill>
                <a:srgbClr val="A9B8CC"/>
              </a:solidFill>
              <a:latin typeface="Aptos"/>
              <a:sym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52200" y="6473952"/>
            <a:ext cx="31496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0</a:t>
            </a:r>
            <a:r>
              <a:rPr lang="en-US" sz="900" b="1">
                <a:solidFill>
                  <a:srgbClr val="4DD0E1"/>
                </a:solidFill>
                <a:latin typeface="Aptos"/>
              </a:rPr>
              <a:t>2</a:t>
            </a:r>
            <a:endParaRPr lang="en-US"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39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0</a:t>
            </a:r>
            <a:r>
              <a:rPr lang="en-US" sz="1000" b="1">
                <a:solidFill>
                  <a:srgbClr val="4DD0E1"/>
                </a:solidFill>
                <a:latin typeface="Aptos"/>
              </a:rPr>
              <a:t>2</a:t>
            </a:r>
            <a:r>
              <a:rPr sz="1000" b="1">
                <a:solidFill>
                  <a:srgbClr val="4DD0E1"/>
                </a:solidFill>
                <a:latin typeface="Aptos"/>
              </a:rPr>
              <a:t>  •  PURPOSE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Project Overview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What we built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9640" y="2075688"/>
            <a:ext cx="467868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dist"/>
            <a:r>
              <a:rPr sz="1250" b="0">
                <a:solidFill>
                  <a:srgbClr val="A9B8CC"/>
                </a:solidFill>
                <a:latin typeface="Aptos"/>
              </a:rPr>
              <a:t>A multi-function real-time clock centered on an ATmega32, with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dist"/>
            <a:r>
              <a:rPr sz="1250" b="0">
                <a:solidFill>
                  <a:srgbClr val="A9B8CC"/>
                </a:solidFill>
                <a:latin typeface="Aptos"/>
              </a:rPr>
              <a:t>an LCD interface and push-button control.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Four timing modes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377888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Clock &amp; calendar, programmable alarm, stopwatch,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and countdown timer.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Core hardware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ATmega32 + RTC module + 16×2 LCD + push buttons + buzzer.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Design approach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21513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Separate hardware drivers from application logic through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a layered embedded-software structure.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52200" y="6473952"/>
            <a:ext cx="31496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0</a:t>
            </a:r>
            <a:r>
              <a:rPr lang="en-US" sz="900" b="1">
                <a:solidFill>
                  <a:srgbClr val="4DD0E1"/>
                </a:solidFill>
                <a:latin typeface="Aptos"/>
              </a:rPr>
              <a:t>3</a:t>
            </a:r>
            <a:endParaRPr lang="en-US"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03  •  PROJECT CHOICE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Why This Project?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Useful in practice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394462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Time-dependent control appears in consumer devices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, industrial systems and automation.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More than a clock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09829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design combines four useful timing functions rather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than stopping at basic time display.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Full-stack embedded work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15925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project brings together peripherals, communication,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firmware and a user interface.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Ready to extend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47929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same architecture can support reminders, scheduling and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automated device control.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04</a:t>
            </a:r>
            <a:endParaRPr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04  •  SYSTEM HARDWARE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Hardware Building Blocks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ATmega32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61391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Main controller responsible for application flow, input handling,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timing and peripheral coordination.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RTC module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71932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DS1307 / DS3231 family used to retain current time and calendar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information through I2C/TWI.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16×2 character LCD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81203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Provides continuous feedback for time, date, operating mode and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timer values.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Push buttons + buzzer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68884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Buttons handle navigation and adjustments; the buzzer supplies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audible notifications.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05</a:t>
            </a:r>
            <a:endParaRPr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05  •  HOW THE PARTS CONNECT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System Architecture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RTC → ATmega32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60819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RTC supplies real-time and calendar data over the two-wire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I2C/TWI interface.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ATmega32 → LCD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49389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controller formats the current state and presents it on the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16×2 display.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Buttons → ATmega32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38912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User actions select modes and change settings such as time,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date and alarm values.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ATmega32 → Buzzer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23227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controller triggers audible feedback when an alarm or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countdown reaches its target.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06</a:t>
            </a:r>
            <a:endParaRPr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06  •  MAIN FEATURES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Functional Modes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Clock &amp; calendar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24497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Shows hours, minutes, seconds and full date, with manual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adjustment available.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Programmable alarm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28625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User sets an alarm target, enables it, and receives a buzzer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notification when the time matches.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Stopwatch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36435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Independent count-up measurement with start, pause/stop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and reset controls.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Countdown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44436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User defines a duration; the remaining time updates live and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buzzer sounds at zero.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07</a:t>
            </a:r>
            <a:endParaRPr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07  •  MODE 01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Clock &amp; Calendar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38988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>
                <a:solidFill>
                  <a:srgbClr val="A9B8CC"/>
                </a:solidFill>
                <a:latin typeface="Aptos"/>
              </a:rPr>
              <a:t>The clock mode is the foundation: the RTC provides the reference while the MCU handles presentation and user adjustment.</a:t>
            </a:r>
            <a:endParaRPr sz="13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993392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579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0160" y="2176272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Continuous timekeeping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56628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RTC maintains current time and date independently of the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main application loop.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993392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1579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03720" y="2176272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Display format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6520" y="2651760"/>
            <a:ext cx="326644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Time is shown as HH : MM : SS; the calendar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uses DD / MM / YY.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379476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95935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0160" y="397764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Manual correction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453128"/>
            <a:ext cx="426720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user can adjust clock and calendar values through the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push-button interface.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0" y="379476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95935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03720" y="397764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Communication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6520" y="445312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ATmega32 reads and writes RTC data through I2C/TWI.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08</a:t>
            </a:r>
            <a:endParaRPr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08  •  MODE 02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Alarm Workflow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Set target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Choose the desired alarm hour, minute and related settings.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Enable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Turn the alarm function on; its state remains visible on the LCD.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Monitor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13702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application continuously checks the RTC against the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configured target.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Alert &amp; silence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41325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When the values match, the buzzer sounds and the user can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acknowledge the notification.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09</a:t>
            </a:r>
            <a:endParaRPr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09  •  MODE 03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Stopwatch Operation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Start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Begin elapsed-time measurement from the current zero state.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Pause / stop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50913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Freeze the displayed value whenever the measurement needs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to be interrupted.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Reset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Return the stopwatch to 00 : 00 : 00.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Live display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28688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LCD provides continuous feedback while elapsed time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is being measured.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10</a:t>
            </a:r>
            <a:endParaRPr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10  •  MODE 04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Countdown Timer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Choose duration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Adjust hours, minutes and seconds before starting.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Run / pause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Start the countdown and pause it when required.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Track remaining time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LCD updates the remaining duration in real time.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Finish alert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At 00:00:00 the buzzer notifies the user that the interval has ended.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11</a:t>
            </a:r>
            <a:endParaRPr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6141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1000" b="1">
                <a:solidFill>
                  <a:srgbClr val="4DD0E1"/>
                </a:solidFill>
                <a:latin typeface="Aptos"/>
              </a:rPr>
              <a:t>1</a:t>
            </a:r>
            <a:r>
              <a:rPr sz="1000" b="1">
                <a:solidFill>
                  <a:srgbClr val="4DD0E1"/>
                </a:solidFill>
                <a:latin typeface="Aptos"/>
              </a:rPr>
              <a:t>  •  MCU ROLE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ATmega32: The Control Center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Application management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Runs the main program and selects the active operating mode.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Input handling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Reads push-button states and translates them into user commands.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Timing services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Uses hardware timers and periodic ticks for software timing operations.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Peripheral coordination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Controls communication with the LCD, RTC and buzzer.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52200" y="6473952"/>
            <a:ext cx="31496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900" b="1">
                <a:solidFill>
                  <a:srgbClr val="4DD0E1"/>
                </a:solidFill>
                <a:latin typeface="Aptos"/>
              </a:rPr>
              <a:t>2</a:t>
            </a:r>
            <a:endParaRPr lang="en-US"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65290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1000" b="1">
                <a:solidFill>
                  <a:srgbClr val="4DD0E1"/>
                </a:solidFill>
                <a:latin typeface="Aptos"/>
              </a:rPr>
              <a:t>2</a:t>
            </a:r>
            <a:r>
              <a:rPr sz="1000" b="1">
                <a:solidFill>
                  <a:srgbClr val="4DD0E1"/>
                </a:solidFill>
                <a:latin typeface="Aptos"/>
              </a:rPr>
              <a:t>  •  COMMUNICATION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RTC Communication via I2C / TWI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Two-wire link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SDA carries data while SCL provides the synchronization clock.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Master / slave flow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06336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ATmega32 acts as the controller and communicates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with the RTC device.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Calendar data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exchange includes seconds, minutes, hours, day, month and year.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Why it fits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78091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Only two signal lines are needed for reliable serial communication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with the RTC.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52200" y="6473952"/>
            <a:ext cx="31496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900" b="1">
                <a:solidFill>
                  <a:srgbClr val="4DD0E1"/>
                </a:solidFill>
                <a:latin typeface="Aptos"/>
              </a:rPr>
              <a:t>3</a:t>
            </a:r>
            <a:endParaRPr lang="en-US"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36715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1000" b="1">
                <a:solidFill>
                  <a:srgbClr val="4DD0E1"/>
                </a:solidFill>
                <a:latin typeface="Aptos"/>
              </a:rPr>
              <a:t>3</a:t>
            </a:r>
            <a:r>
              <a:rPr sz="1000" b="1">
                <a:solidFill>
                  <a:srgbClr val="4DD0E1"/>
                </a:solidFill>
                <a:latin typeface="Aptos"/>
              </a:rPr>
              <a:t>  •  INTERACTION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User Interface Flow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1 — Choose a mode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57200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Move between Clock, Alarm, Stopwatch and Countdown using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buttons.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2 — Edit values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Select the relevant time, date, alarm or duration field.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3 — Change values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Increase or decrease the selected value with dedicated controls.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4 — Confirm visually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 LCD immediately reflects the current state and user actions.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52200" y="6473952"/>
            <a:ext cx="31496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900" b="1">
                <a:solidFill>
                  <a:srgbClr val="4DD0E1"/>
                </a:solidFill>
                <a:latin typeface="Aptos"/>
              </a:rPr>
              <a:t>4</a:t>
            </a:r>
            <a:endParaRPr lang="en-US"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9761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1000" b="1">
                <a:solidFill>
                  <a:srgbClr val="4DD0E1"/>
                </a:solidFill>
                <a:latin typeface="Aptos"/>
              </a:rPr>
              <a:t>4</a:t>
            </a:r>
            <a:r>
              <a:rPr sz="1000" b="1">
                <a:solidFill>
                  <a:srgbClr val="4DD0E1"/>
                </a:solidFill>
                <a:latin typeface="Aptos"/>
              </a:rPr>
              <a:t>  •  SOFTWARE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Layered Firmware Design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MCAL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72884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DIO, Timer, Global Interrupt and I2C/TWI drivers interface directly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with ATmega32 peripherals.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HAL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510667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LCD</a:t>
            </a:r>
            <a:r>
              <a:rPr lang="en-US" sz="1250" b="0">
                <a:solidFill>
                  <a:srgbClr val="A9B8CC"/>
                </a:solidFill>
                <a:latin typeface="Aptos"/>
              </a:rPr>
              <a:t>,</a:t>
            </a:r>
            <a:r>
              <a:rPr sz="1250" b="0">
                <a:solidFill>
                  <a:srgbClr val="A9B8CC"/>
                </a:solidFill>
                <a:latin typeface="Aptos"/>
              </a:rPr>
              <a:t> </a:t>
            </a:r>
            <a:r>
              <a:rPr lang="en-US" sz="1250" b="0">
                <a:solidFill>
                  <a:srgbClr val="A9B8CC"/>
                </a:solidFill>
                <a:latin typeface="Aptos"/>
              </a:rPr>
              <a:t>Keypad and </a:t>
            </a:r>
            <a:r>
              <a:rPr sz="1250" b="0">
                <a:solidFill>
                  <a:srgbClr val="A9B8CC"/>
                </a:solidFill>
                <a:latin typeface="Aptos"/>
              </a:rPr>
              <a:t>RTC drivers hide hardware details and expose simpler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functions to the application.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Main application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Coordinates clock, alarm, stopwatch and countdown behavior.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Separation of concerns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37896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Each layer depends on the one beneath it, making the code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easier to maintain and test.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52200" y="6473952"/>
            <a:ext cx="31496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900" b="1">
                <a:solidFill>
                  <a:srgbClr val="4DD0E1"/>
                </a:solidFill>
                <a:latin typeface="Aptos"/>
              </a:rPr>
              <a:t>5</a:t>
            </a:r>
            <a:endParaRPr lang="en-US"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39001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1000" b="1">
                <a:solidFill>
                  <a:srgbClr val="4DD0E1"/>
                </a:solidFill>
                <a:latin typeface="Aptos"/>
              </a:rPr>
              <a:t>5</a:t>
            </a:r>
            <a:r>
              <a:rPr sz="1000" b="1">
                <a:solidFill>
                  <a:srgbClr val="4DD0E1"/>
                </a:solidFill>
                <a:latin typeface="Aptos"/>
              </a:rPr>
              <a:t>  •  DRIVER LAYER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MCAL: Low-Level Drivers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DIO driver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68122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Configures pins, reads button states, enables pull-ups and drives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outputs.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Timer driver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41833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Uses CTC mode to generate periodic interrupts and a system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millisecond tick.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Global Interrupt driver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Enables or disables global interrupts safely for asynchronous events.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I2C / TWI driver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14591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Provides the SDA/SCL communication path between the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ATmega32 and RTC.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52200" y="6473952"/>
            <a:ext cx="31496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900" b="1">
                <a:solidFill>
                  <a:srgbClr val="4DD0E1"/>
                </a:solidFill>
                <a:latin typeface="Aptos"/>
              </a:rPr>
              <a:t>6</a:t>
            </a:r>
            <a:endParaRPr lang="en-US"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65227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1000" b="1">
                <a:solidFill>
                  <a:srgbClr val="4DD0E1"/>
                </a:solidFill>
                <a:latin typeface="Aptos"/>
              </a:rPr>
              <a:t>6</a:t>
            </a:r>
            <a:r>
              <a:rPr sz="1000" b="1">
                <a:solidFill>
                  <a:srgbClr val="4DD0E1"/>
                </a:solidFill>
                <a:latin typeface="Aptos"/>
              </a:rPr>
              <a:t>  •  HIGH-LEVEL LOGIC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HAL + Application Layer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LCD driver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Initializes the display and sends commands, characters and strings.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RTC driver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Reads/writes time and date and handles Decimal ↔ BCD conversion.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Application modes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Coordinates Clock, Alarm, Stopwatch and Countdown functions.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Calendar logic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Includes the required date handling, including leap-year behavior.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52200" y="6473952"/>
            <a:ext cx="31496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900" b="1">
                <a:solidFill>
                  <a:srgbClr val="4DD0E1"/>
                </a:solidFill>
                <a:latin typeface="Aptos"/>
              </a:rPr>
              <a:t>7</a:t>
            </a:r>
            <a:endParaRPr lang="en-US"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59321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1000" b="1">
                <a:solidFill>
                  <a:srgbClr val="4DD0E1"/>
                </a:solidFill>
                <a:latin typeface="Aptos"/>
              </a:rPr>
              <a:t>7</a:t>
            </a:r>
            <a:r>
              <a:rPr sz="1000" b="1">
                <a:solidFill>
                  <a:srgbClr val="4DD0E1"/>
                </a:solidFill>
                <a:latin typeface="Aptos"/>
              </a:rPr>
              <a:t>  •  EXECUTION LOOP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Runtime Sequence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Power on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Initialize LCD, RTC, timer and all required I/O.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Read &amp; show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Fetch current RTC information and refresh the LCD.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Process input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08686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Read button states and determine the selected mode or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 requested change.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Execute &amp; repeat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079875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Run the active mode, trigger the buzzer when required,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then continue the loop.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52200" y="6473952"/>
            <a:ext cx="31496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900" b="1">
                <a:solidFill>
                  <a:srgbClr val="4DD0E1"/>
                </a:solidFill>
                <a:latin typeface="Aptos"/>
              </a:rPr>
              <a:t>8</a:t>
            </a:r>
            <a:endParaRPr lang="en-US"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458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1000" b="1">
                <a:solidFill>
                  <a:srgbClr val="4DD0E1"/>
                </a:solidFill>
                <a:latin typeface="Aptos"/>
              </a:rPr>
              <a:t>8</a:t>
            </a:r>
            <a:r>
              <a:rPr sz="1000" b="1">
                <a:solidFill>
                  <a:srgbClr val="4DD0E1"/>
                </a:solidFill>
                <a:latin typeface="Aptos"/>
              </a:rPr>
              <a:t>  •  PROTEUS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Simulation &amp; Verification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38988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>
                <a:solidFill>
                  <a:srgbClr val="A9B8CC"/>
                </a:solidFill>
                <a:latin typeface="Aptos"/>
              </a:rPr>
              <a:t>Proteus was used as the integration environment before final hardware implementation.</a:t>
            </a:r>
            <a:endParaRPr sz="13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993392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579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0160" y="2176272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RTC link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Check data exchange and I2C timing between the MCU and RTC.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993392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1579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03720" y="2176272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LCD behavior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6520" y="2651760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Confirm the displayed values and refresh behavior.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379476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95935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0160" y="397764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Button response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45312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Validate button detection and debouncing behavior.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0" y="379476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95935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03720" y="397764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Timing + alerts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6520" y="4453128"/>
            <a:ext cx="408686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Verify alarm triggering, stopwatch/countdown behavior </a:t>
            </a:r>
            <a:endParaRPr sz="1250" b="0">
              <a:solidFill>
                <a:srgbClr val="A9B8CC"/>
              </a:solidFill>
              <a:latin typeface="Aptos"/>
            </a:endParaRPr>
          </a:p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and buzzer activation.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52200" y="6473952"/>
            <a:ext cx="31496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900" b="1">
                <a:solidFill>
                  <a:srgbClr val="4DD0E1"/>
                </a:solidFill>
                <a:latin typeface="Aptos"/>
              </a:rPr>
              <a:t>19</a:t>
            </a:r>
            <a:endParaRPr lang="en-US"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655" y="431800"/>
            <a:ext cx="119189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D0E1"/>
                </a:solidFill>
                <a:latin typeface="Aptos"/>
              </a:rPr>
              <a:t>1</a:t>
            </a:r>
            <a:r>
              <a:rPr lang="en-US" sz="1000" b="1">
                <a:solidFill>
                  <a:srgbClr val="4DD0E1"/>
                </a:solidFill>
                <a:latin typeface="Aptos"/>
              </a:rPr>
              <a:t>8.5</a:t>
            </a:r>
            <a:r>
              <a:rPr sz="1000" b="1">
                <a:solidFill>
                  <a:srgbClr val="4DD0E1"/>
                </a:solidFill>
                <a:latin typeface="Aptos"/>
              </a:rPr>
              <a:t>  •  PROTEUS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Simulation &amp; Verification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20</a:t>
            </a:r>
            <a:endParaRPr sz="9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71245" y="1343025"/>
            <a:ext cx="10038715" cy="4949825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1739900"/>
            <a:ext cx="8340090" cy="42170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60909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000" b="1">
                <a:solidFill>
                  <a:srgbClr val="4DD0E1"/>
                </a:solidFill>
                <a:latin typeface="Aptos"/>
              </a:rPr>
              <a:t>19</a:t>
            </a:r>
            <a:r>
              <a:rPr sz="1000" b="1">
                <a:solidFill>
                  <a:srgbClr val="4DD0E1"/>
                </a:solidFill>
                <a:latin typeface="Aptos"/>
              </a:rPr>
              <a:t>  •  REAL-WORLD USE</a:t>
            </a:r>
            <a:endParaRPr sz="10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Aptos"/>
              </a:rPr>
              <a:t>Broader Applications</a:t>
            </a:r>
            <a:endParaRPr sz="28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01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Reminder products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Scheduled alerts for routine activities and important events.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819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02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Time-management tools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Meeting, study, exercise and cooking timers.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03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Home automation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Start or stop devices at predefined times.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218688"/>
            <a:ext cx="5349240" cy="1572768"/>
          </a:xfrm>
          <a:prstGeom prst="roundRect">
            <a:avLst/>
          </a:prstGeom>
          <a:solidFill>
            <a:srgbClr val="141E31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Aptos"/>
              </a:rPr>
              <a:t>04</a:t>
            </a:r>
            <a:endParaRPr sz="1100" b="1">
              <a:solidFill>
                <a:srgbClr val="4DD0E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480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Industrial control</a:t>
            </a:r>
            <a:endParaRPr sz="15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877056"/>
            <a:ext cx="4892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9B8CC"/>
                </a:solidFill>
                <a:latin typeface="Aptos"/>
              </a:rPr>
              <a:t>Support time-dependent machine actions and process scheduling.</a:t>
            </a:r>
            <a:endParaRPr sz="12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9B8CC"/>
                </a:solidFill>
                <a:latin typeface="Aptos"/>
              </a:rPr>
              <a:t>ADVANCED REAL-TIME CLOCK SYSTEM  •  AVR EMBEDDED PROJECT</a:t>
            </a:r>
            <a:endParaRPr sz="85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D0E1"/>
                </a:solidFill>
                <a:latin typeface="Aptos"/>
              </a:rPr>
              <a:t>21</a:t>
            </a:r>
            <a:endParaRPr sz="900" b="1">
              <a:solidFill>
                <a:srgbClr val="4DD0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10699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5400" b="1">
                <a:solidFill>
                  <a:srgbClr val="F2F6FC"/>
                </a:solidFill>
                <a:latin typeface="Aptos"/>
              </a:rPr>
              <a:t>THANK YOU</a:t>
            </a:r>
            <a:r>
              <a:rPr lang="en-US" sz="5400" b="1">
                <a:solidFill>
                  <a:srgbClr val="F2F6FC"/>
                </a:solidFill>
                <a:latin typeface="Aptos"/>
              </a:rPr>
              <a:t> :)</a:t>
            </a:r>
            <a:endParaRPr lang="en-US" sz="5400" b="1">
              <a:solidFill>
                <a:srgbClr val="F2F6F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9718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9B8CC"/>
                </a:solidFill>
                <a:latin typeface="Aptos"/>
              </a:rPr>
              <a:t>Real-time clock • Alarm • Stopwatch • Countdown</a:t>
            </a:r>
            <a:br>
              <a:rPr sz="1400" b="0">
                <a:solidFill>
                  <a:srgbClr val="A9B8CC"/>
                </a:solidFill>
                <a:latin typeface="Aptos"/>
              </a:rPr>
            </a:br>
            <a:r>
              <a:rPr sz="1400" b="0">
                <a:solidFill>
                  <a:srgbClr val="A9B8CC"/>
                </a:solidFill>
                <a:latin typeface="Aptos"/>
              </a:rPr>
              <a:t>ATmega32 • RTC • LCD • I2C/TWI</a:t>
            </a:r>
            <a:endParaRPr sz="140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A9B8CC"/>
                </a:solidFill>
                <a:latin typeface="Aptos"/>
              </a:rPr>
              <a:t>Yousef Mahmoud Elsayed  •  Adel Wael Adel  •  Abdullah Mohammed Abdullah</a:t>
            </a:r>
            <a:endParaRPr sz="1000" b="0">
              <a:solidFill>
                <a:srgbClr val="A9B8CC"/>
              </a:solidFill>
              <a:latin typeface="Aptos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0" y="6592570"/>
            <a:ext cx="40640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800">
                <a:solidFill>
                  <a:schemeClr val="bg1"/>
                </a:solidFill>
              </a:rPr>
              <a:t>2026 copyright  @EDRA</a:t>
            </a: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0881360" y="6638290"/>
            <a:ext cx="40640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800">
                <a:solidFill>
                  <a:schemeClr val="bg1"/>
                </a:solidFill>
              </a:rPr>
              <a:t>Sufa, void and john was here</a:t>
            </a:r>
            <a:endParaRPr lang="en-US" sz="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8896</Words>
  <Application>WPS Presentation</Application>
  <PresentationFormat>On-screen Show (4:3)</PresentationFormat>
  <Paragraphs>665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Adel Wael</cp:lastModifiedBy>
  <cp:revision>4</cp:revision>
  <dcterms:created xsi:type="dcterms:W3CDTF">2013-01-27T09:14:00Z</dcterms:created>
  <dcterms:modified xsi:type="dcterms:W3CDTF">2026-09-16T00:32:37Z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9205A53D7DCE46CBBDA39620C7A6FB9A_12</vt:lpwstr>
  </property>
</Properties>
</file>